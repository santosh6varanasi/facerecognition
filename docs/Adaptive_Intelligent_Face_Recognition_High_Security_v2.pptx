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Segoe UI Semibold"/>
              </a:defRPr>
            </a:pPr>
            <a:r>
              <a:t>Adaptive Intelligent Face Recognition System</a:t>
            </a:r>
          </a:p>
          <a:p>
            <a:pPr>
              <a:defRPr sz="1800">
                <a:solidFill>
                  <a:srgbClr val="DCF0FF"/>
                </a:solidFill>
                <a:latin typeface="Segoe UI"/>
              </a:defRPr>
            </a:pPr>
            <a:r>
              <a:t>for High-Security Environments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7498079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645920"/>
            <a:ext cx="29260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5840" y="2194560"/>
            <a:ext cx="65836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A233C"/>
                </a:solidFill>
                <a:latin typeface="Segoe UI"/>
              </a:defRPr>
            </a:pPr>
            <a:r>
              <a:t>AI-powered real-time face monitoring</a:t>
            </a:r>
          </a:p>
          <a:p>
            <a:pPr>
              <a:defRPr sz="2000">
                <a:solidFill>
                  <a:srgbClr val="0A233C"/>
                </a:solidFill>
                <a:latin typeface="Segoe UI"/>
              </a:defRPr>
            </a:pPr>
            <a:r>
              <a:t>Designed for apartments, schools, military zones, and courts</a:t>
            </a:r>
          </a:p>
          <a:p>
            <a:pPr>
              <a:defRPr sz="2000">
                <a:solidFill>
                  <a:srgbClr val="0A233C"/>
                </a:solidFill>
                <a:latin typeface="Segoe UI"/>
              </a:defRPr>
            </a:pPr>
            <a:r>
              <a:t>Adaptive architecture for future high-security extensions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a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Segoe UI Semibold"/>
              </a:defRPr>
            </a:pPr>
            <a:r>
              <a:t>Project Description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899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87552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A233C"/>
                </a:solidFill>
                <a:latin typeface="Segoe UI"/>
              </a:defRPr>
            </a:pPr>
            <a:r>
              <a:t>This system focuses on proactive security instead of passive surveillance.</a:t>
            </a:r>
          </a:p>
          <a:p>
            <a:pPr>
              <a:defRPr sz="2000">
                <a:solidFill>
                  <a:srgbClr val="0A233C"/>
                </a:solidFill>
                <a:latin typeface="Segoe UI"/>
              </a:defRPr>
            </a:pPr>
            <a:r>
              <a:t>It detects and recognizes faces from live camera feeds in sensitive locations.</a:t>
            </a:r>
          </a:p>
          <a:p>
            <a:pPr>
              <a:defRPr sz="2000">
                <a:solidFill>
                  <a:srgbClr val="0A233C"/>
                </a:solidFill>
                <a:latin typeface="Segoe UI"/>
              </a:defRPr>
            </a:pPr>
            <a:r>
              <a:t>Core method: vector-based facial embeddings (128-D) for robust identity matching.</a:t>
            </a:r>
          </a:p>
          <a:p>
            <a:pPr>
              <a:defRPr sz="2000">
                <a:solidFill>
                  <a:srgbClr val="0A233C"/>
                </a:solidFill>
                <a:latin typeface="Segoe UI"/>
              </a:defRPr>
            </a:pPr>
            <a:r>
              <a:t>Unknown-face events can be flagged quickly to support immediate response.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Segoe UI Semibold"/>
              </a:defRPr>
            </a:pPr>
            <a:r>
              <a:t>Key Use Cases We Are Solving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apart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19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1874519"/>
            <a:ext cx="3474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092846"/>
                </a:solidFill>
                <a:latin typeface="Segoe UI Semibold"/>
              </a:defRPr>
            </a:pPr>
            <a:r>
              <a:t>Apartment Security</a:t>
            </a:r>
          </a:p>
          <a:p>
            <a:pPr>
              <a:defRPr sz="1400">
                <a:solidFill>
                  <a:srgbClr val="23425F"/>
                </a:solidFill>
                <a:latin typeface="Segoe UI"/>
              </a:defRPr>
            </a:pPr>
            <a:r>
              <a:t>Entry gate verification and visitor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0292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scho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874519"/>
            <a:ext cx="1097280" cy="1097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26680" y="1874519"/>
            <a:ext cx="3474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092846"/>
                </a:solidFill>
                <a:latin typeface="Segoe UI Semibold"/>
              </a:defRPr>
            </a:pPr>
            <a:r>
              <a:t>School Safety</a:t>
            </a:r>
          </a:p>
          <a:p>
            <a:pPr>
              <a:defRPr sz="1400">
                <a:solidFill>
                  <a:srgbClr val="23425F"/>
                </a:solidFill>
                <a:latin typeface="Segoe UI"/>
              </a:defRPr>
            </a:pPr>
            <a:r>
              <a:t>Student/staff monitoring and restricted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0292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_milit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160520"/>
            <a:ext cx="1097280" cy="1097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48840" y="4160520"/>
            <a:ext cx="3474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092846"/>
                </a:solidFill>
                <a:latin typeface="Segoe UI Semibold"/>
              </a:defRPr>
            </a:pPr>
            <a:r>
              <a:t>Military Facilities</a:t>
            </a:r>
          </a:p>
          <a:p>
            <a:pPr>
              <a:defRPr sz="1400">
                <a:solidFill>
                  <a:srgbClr val="23425F"/>
                </a:solidFill>
                <a:latin typeface="Segoe UI"/>
              </a:defRPr>
            </a:pPr>
            <a:r>
              <a:t>Personnel authentication and perimeter checks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931920"/>
            <a:ext cx="50292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cou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160520"/>
            <a:ext cx="1097280" cy="10972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26680" y="4160520"/>
            <a:ext cx="3474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092846"/>
                </a:solidFill>
                <a:latin typeface="Segoe UI Semibold"/>
              </a:defRPr>
            </a:pPr>
            <a:r>
              <a:t>Court Premises</a:t>
            </a:r>
          </a:p>
          <a:p>
            <a:pPr>
              <a:defRPr sz="1400">
                <a:solidFill>
                  <a:srgbClr val="23425F"/>
                </a:solidFill>
                <a:latin typeface="Segoe UI"/>
              </a:defRPr>
            </a:pPr>
            <a:r>
              <a:t>Controlled entry and movement visibility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a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Segoe UI Semibold"/>
              </a:defRPr>
            </a:pPr>
            <a:r>
              <a:t>Expected Security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10607040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2121408"/>
            <a:ext cx="201168" cy="201168"/>
          </a:xfrm>
          <a:prstGeom prst="ellipse">
            <a:avLst/>
          </a:prstGeom>
          <a:solidFill>
            <a:srgbClr val="0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011680"/>
            <a:ext cx="9326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A223A"/>
                </a:solidFill>
                <a:latin typeface="Segoe UI"/>
              </a:defRPr>
            </a:pPr>
            <a:r>
              <a:t>Faster detection of suspicious or unknown persons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3127248"/>
            <a:ext cx="201168" cy="201168"/>
          </a:xfrm>
          <a:prstGeom prst="ellipse">
            <a:avLst/>
          </a:prstGeom>
          <a:solidFill>
            <a:srgbClr val="0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3017520"/>
            <a:ext cx="9326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A223A"/>
                </a:solidFill>
                <a:latin typeface="Segoe UI"/>
              </a:defRPr>
            </a:pPr>
            <a:r>
              <a:t>Reduced dependency on manual-only CCTV review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4133088"/>
            <a:ext cx="201168" cy="201168"/>
          </a:xfrm>
          <a:prstGeom prst="ellipse">
            <a:avLst/>
          </a:prstGeom>
          <a:solidFill>
            <a:srgbClr val="0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4023360"/>
            <a:ext cx="9326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A223A"/>
                </a:solidFill>
                <a:latin typeface="Segoe UI"/>
              </a:defRPr>
            </a:pPr>
            <a:r>
              <a:t>Higher situational awareness in critical environments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0" y="5138928"/>
            <a:ext cx="201168" cy="201168"/>
          </a:xfrm>
          <a:prstGeom prst="ellipse">
            <a:avLst/>
          </a:prstGeom>
          <a:solidFill>
            <a:srgbClr val="0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5029200"/>
            <a:ext cx="9326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A223A"/>
                </a:solidFill>
                <a:latin typeface="Segoe UI"/>
              </a:defRPr>
            </a:pPr>
            <a:r>
              <a:t>Future-ready base for enterprise-grade security products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Segoe UI Semibold"/>
              </a:defRPr>
            </a:pPr>
            <a:r>
              <a:t>Capstone Proposal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24128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286000"/>
            <a:ext cx="950976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0C2A46"/>
                </a:solidFill>
                <a:latin typeface="Segoe UI"/>
              </a:defRPr>
            </a:pPr>
            <a:r>
              <a:t>Title: Adaptive Intelligent Face Recognition System for High-Security Environments</a:t>
            </a:r>
          </a:p>
          <a:p>
            <a:pPr>
              <a:defRPr sz="1900">
                <a:solidFill>
                  <a:srgbClr val="0C2A46"/>
                </a:solidFill>
                <a:latin typeface="Segoe UI"/>
              </a:defRPr>
            </a:pPr>
            <a:r>
              <a:t>Focus: Security-first, real-time face intelligence for sensitive institutions</a:t>
            </a:r>
          </a:p>
          <a:p>
            <a:pPr>
              <a:defRPr sz="1900">
                <a:solidFill>
                  <a:srgbClr val="0C2A46"/>
                </a:solidFill>
                <a:latin typeface="Segoe UI"/>
              </a:defRPr>
            </a:pPr>
            <a:r>
              <a:t>Core use cases: Apartments, Schools, Military Places, Court Premises</a:t>
            </a:r>
          </a:p>
          <a:p>
            <a:pPr>
              <a:defRPr sz="1900">
                <a:solidFill>
                  <a:srgbClr val="0C2A46"/>
                </a:solidFill>
                <a:latin typeface="Segoe UI"/>
              </a:defRPr>
            </a:pPr>
            <a:r>
              <a:t>Outcome: Practical, scalable, and presentation-ready capstone idea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>
                <a:solidFill>
                  <a:srgbClr val="FFFFFF"/>
                </a:solidFill>
                <a:latin typeface="Segoe UI Semibold"/>
              </a:defRPr>
            </a:pPr>
            <a:r>
              <a:t>Core Technology: Vector-Based Facial Embeddings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899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2157984"/>
            <a:ext cx="164592" cy="164592"/>
          </a:xfrm>
          <a:prstGeom prst="ellipse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057400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A233C"/>
                </a:solidFill>
                <a:latin typeface="Segoe UI"/>
              </a:defRPr>
            </a:pPr>
            <a:r>
              <a:t>1. Face Detection: Detect face region from camera frame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3026664"/>
            <a:ext cx="164592" cy="164592"/>
          </a:xfrm>
          <a:prstGeom prst="ellipse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926080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A233C"/>
                </a:solidFill>
                <a:latin typeface="Segoe UI"/>
              </a:defRPr>
            </a:pPr>
            <a:r>
              <a:t>2. Embedding Extraction: Convert face into a 128-D feature vector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3895344"/>
            <a:ext cx="164592" cy="164592"/>
          </a:xfrm>
          <a:prstGeom prst="ellipse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3794760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A233C"/>
                </a:solidFill>
                <a:latin typeface="Segoe UI"/>
              </a:defRPr>
            </a:pPr>
            <a:r>
              <a:t>3. Vector Matching: Compare embedding with enrolled identity vectors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4764024"/>
            <a:ext cx="164592" cy="164592"/>
          </a:xfrm>
          <a:prstGeom prst="ellipse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4663440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A233C"/>
                </a:solidFill>
                <a:latin typeface="Segoe UI"/>
              </a:defRPr>
            </a:pPr>
            <a:r>
              <a:t>4. Decision Layer: SVM + confidence threshold for Known / Unknown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5632704"/>
            <a:ext cx="164592" cy="164592"/>
          </a:xfrm>
          <a:prstGeom prst="ellipse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5532120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A233C"/>
                </a:solidFill>
                <a:latin typeface="Segoe UI"/>
              </a:defRPr>
            </a:pPr>
            <a:r>
              <a:t>5. Adaptive Update: Add labeled unknowns and retrain for better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21792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F0FF"/>
                </a:solidFill>
                <a:latin typeface="Segoe UI"/>
              </a:defRPr>
            </a:pPr>
            <a:r>
              <a:t>Why this matters: vector embeddings are more reliable than direct pixel comparison in real-world security scenes.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>
                <a:solidFill>
                  <a:srgbClr val="FFFFFF"/>
                </a:solidFill>
                <a:latin typeface="Segoe UI Semibold"/>
              </a:defRPr>
            </a:pPr>
            <a:r>
              <a:t>Live CCTV Frame-Wise Identification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899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874519"/>
            <a:ext cx="4572000" cy="640080"/>
          </a:xfrm>
          <a:prstGeom prst="roundRect">
            <a:avLst/>
          </a:prstGeom>
          <a:solidFill>
            <a:srgbClr val="E4F4FF"/>
          </a:solidFill>
          <a:ln>
            <a:solidFill>
              <a:srgbClr val="6E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082A48"/>
                </a:solidFill>
                <a:latin typeface="Segoe UI"/>
              </a:defRPr>
            </a:pPr>
            <a:r>
              <a:t>CCTV Live Stream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743200"/>
            <a:ext cx="4572000" cy="640080"/>
          </a:xfrm>
          <a:prstGeom prst="roundRect">
            <a:avLst/>
          </a:prstGeom>
          <a:solidFill>
            <a:srgbClr val="E4F4FF"/>
          </a:solidFill>
          <a:ln>
            <a:solidFill>
              <a:srgbClr val="6E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082A48"/>
                </a:solidFill>
                <a:latin typeface="Segoe UI"/>
              </a:defRPr>
            </a:pPr>
            <a:r>
              <a:t>Frame Extraction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611879"/>
            <a:ext cx="4572000" cy="640080"/>
          </a:xfrm>
          <a:prstGeom prst="roundRect">
            <a:avLst/>
          </a:prstGeom>
          <a:solidFill>
            <a:srgbClr val="E4F4FF"/>
          </a:solidFill>
          <a:ln>
            <a:solidFill>
              <a:srgbClr val="6E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082A48"/>
                </a:solidFill>
                <a:latin typeface="Segoe UI"/>
              </a:defRPr>
            </a:pPr>
            <a:r>
              <a:t>Face Detection + 128-D Embedding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480559"/>
            <a:ext cx="4572000" cy="640080"/>
          </a:xfrm>
          <a:prstGeom prst="roundRect">
            <a:avLst/>
          </a:prstGeom>
          <a:solidFill>
            <a:srgbClr val="E4F4FF"/>
          </a:solidFill>
          <a:ln>
            <a:solidFill>
              <a:srgbClr val="6E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082A48"/>
                </a:solidFill>
                <a:latin typeface="Segoe UI"/>
              </a:defRPr>
            </a:pPr>
            <a:r>
              <a:t>Identity Match (Known / Unknown)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5349240"/>
            <a:ext cx="4572000" cy="640080"/>
          </a:xfrm>
          <a:prstGeom prst="roundRect">
            <a:avLst/>
          </a:prstGeom>
          <a:solidFill>
            <a:srgbClr val="E4F4FF"/>
          </a:solidFill>
          <a:ln>
            <a:solidFill>
              <a:srgbClr val="6E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082A48"/>
                </a:solidFill>
                <a:latin typeface="Segoe UI"/>
              </a:defRPr>
            </a:pPr>
            <a:r>
              <a:t>Timestamped Log + Timeline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920240"/>
            <a:ext cx="49377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A233C"/>
                </a:solidFill>
                <a:latin typeface="Segoe UI"/>
              </a:defRPr>
            </a:pPr>
            <a:r>
              <a:t>Records each person with frame index and timestamp</a:t>
            </a:r>
          </a:p>
          <a:p>
            <a:pPr>
              <a:defRPr sz="1700">
                <a:solidFill>
                  <a:srgbClr val="0A233C"/>
                </a:solidFill>
                <a:latin typeface="Segoe UI"/>
              </a:defRPr>
            </a:pPr>
            <a:r>
              <a:t>Works on live CCTV video in near real-time</a:t>
            </a:r>
          </a:p>
          <a:p>
            <a:pPr>
              <a:defRPr sz="1700">
                <a:solidFill>
                  <a:srgbClr val="0A233C"/>
                </a:solidFill>
                <a:latin typeface="Segoe UI"/>
              </a:defRPr>
            </a:pPr>
            <a:r>
              <a:t>Creates searchable identity timeline for investigation</a:t>
            </a:r>
          </a:p>
          <a:p>
            <a:pPr>
              <a:defRPr sz="1700">
                <a:solidFill>
                  <a:srgbClr val="0A233C"/>
                </a:solidFill>
                <a:latin typeface="Segoe UI"/>
              </a:defRPr>
            </a:pPr>
            <a:r>
              <a:t>Supports query like: where and when person X appeared</a:t>
            </a:r>
          </a:p>
          <a:p>
            <a:pPr>
              <a:defRPr sz="1700">
                <a:solidFill>
                  <a:srgbClr val="0A233C"/>
                </a:solidFill>
                <a:latin typeface="Segoe UI"/>
              </a:defRPr>
            </a:pPr>
            <a:r>
              <a:t>Links detections to recorded video segments for playback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>
                <a:solidFill>
                  <a:srgbClr val="FFFFFF"/>
                </a:solidFill>
                <a:latin typeface="Segoe UI Semibold"/>
              </a:defRPr>
            </a:pPr>
            <a:r>
              <a:t>CCTV Detection Log Schema (Frame-Wise)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64240" cy="5212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828800"/>
          <a:ext cx="103327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2103120"/>
                <a:gridCol w="1920240"/>
                <a:gridCol w="1005840"/>
                <a:gridCol w="2011680"/>
                <a:gridCol w="1097280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camera_id</a:t>
                      </a:r>
                    </a:p>
                  </a:txBody>
                  <a:tcPr>
                    <a:solidFill>
                      <a:srgbClr val="0066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frame_index</a:t>
                      </a:r>
                    </a:p>
                  </a:txBody>
                  <a:tcPr>
                    <a:solidFill>
                      <a:srgbClr val="0066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timestamp</a:t>
                      </a:r>
                    </a:p>
                  </a:txBody>
                  <a:tcPr>
                    <a:solidFill>
                      <a:srgbClr val="0066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person_name</a:t>
                      </a:r>
                    </a:p>
                  </a:txBody>
                  <a:tcPr>
                    <a:solidFill>
                      <a:srgbClr val="0066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confidence</a:t>
                      </a:r>
                    </a:p>
                  </a:txBody>
                  <a:tcPr>
                    <a:solidFill>
                      <a:srgbClr val="0066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bbox</a:t>
                      </a:r>
                    </a:p>
                  </a:txBody>
                  <a:tcPr>
                    <a:solidFill>
                      <a:srgbClr val="0066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is_unknown</a:t>
                      </a:r>
                    </a:p>
                  </a:txBody>
                  <a:tcPr>
                    <a:solidFill>
                      <a:srgbClr val="0066A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2D46"/>
                          </a:solidFill>
                          <a:latin typeface="Segoe UI"/>
                        </a:defRPr>
                      </a:pPr>
                      <a:r>
                        <a:t>CAM-01</a:t>
                      </a:r>
                    </a:p>
                  </a:txBody>
                  <a:tcPr>
                    <a:solidFill>
                      <a:srgbClr val="EC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2D46"/>
                          </a:solidFill>
                          <a:latin typeface="Segoe UI"/>
                        </a:defRPr>
                      </a:pPr>
                      <a:r>
                        <a:t>15234</a:t>
                      </a:r>
                    </a:p>
                  </a:txBody>
                  <a:tcPr>
                    <a:solidFill>
                      <a:srgbClr val="EC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2D46"/>
                          </a:solidFill>
                          <a:latin typeface="Segoe UI"/>
                        </a:defRPr>
                      </a:pPr>
                      <a:r>
                        <a:t>2026-04-08 19:42:31</a:t>
                      </a:r>
                    </a:p>
                  </a:txBody>
                  <a:tcPr>
                    <a:solidFill>
                      <a:srgbClr val="EC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2D46"/>
                          </a:solidFill>
                          <a:latin typeface="Segoe UI"/>
                        </a:defRPr>
                      </a:pPr>
                      <a:r>
                        <a:t>Santosh</a:t>
                      </a:r>
                    </a:p>
                  </a:txBody>
                  <a:tcPr>
                    <a:solidFill>
                      <a:srgbClr val="EC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2D46"/>
                          </a:solidFill>
                          <a:latin typeface="Segoe UI"/>
                        </a:defRPr>
                      </a:pPr>
                      <a:r>
                        <a:t>0.93</a:t>
                      </a:r>
                    </a:p>
                  </a:txBody>
                  <a:tcPr>
                    <a:solidFill>
                      <a:srgbClr val="EC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2D46"/>
                          </a:solidFill>
                          <a:latin typeface="Segoe UI"/>
                        </a:defRPr>
                      </a:pPr>
                      <a:r>
                        <a:t>(120,210,220,95)</a:t>
                      </a:r>
                    </a:p>
                  </a:txBody>
                  <a:tcPr>
                    <a:solidFill>
                      <a:srgbClr val="EC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2D46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CF6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2D46"/>
                          </a:solidFill>
                          <a:latin typeface="Segoe UI"/>
                        </a:defRPr>
                      </a:pPr>
                      <a:r>
                        <a:t>CAM-01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2D46"/>
                          </a:solidFill>
                          <a:latin typeface="Segoe UI"/>
                        </a:defRPr>
                      </a:pPr>
                      <a:r>
                        <a:t>15236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2D46"/>
                          </a:solidFill>
                          <a:latin typeface="Segoe UI"/>
                        </a:defRPr>
                      </a:pPr>
                      <a:r>
                        <a:t>2026-04-08 19:42:31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2D46"/>
                          </a:solidFill>
                          <a:latin typeface="Segoe UI"/>
                        </a:defRPr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2D46"/>
                          </a:solidFill>
                          <a:latin typeface="Segoe UI"/>
                        </a:defRPr>
                      </a:pPr>
                      <a:r>
                        <a:t>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2D46"/>
                          </a:solidFill>
                          <a:latin typeface="Segoe UI"/>
                        </a:defRPr>
                      </a:pPr>
                      <a:r>
                        <a:t>(314,242,422,205)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2D46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2D46"/>
                          </a:solidFill>
                          <a:latin typeface="Segoe UI"/>
                        </a:defRPr>
                      </a:pPr>
                      <a:r>
                        <a:t>CAM-02</a:t>
                      </a:r>
                    </a:p>
                  </a:txBody>
                  <a:tcPr>
                    <a:solidFill>
                      <a:srgbClr val="EC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2D46"/>
                          </a:solidFill>
                          <a:latin typeface="Segoe UI"/>
                        </a:defRPr>
                      </a:pPr>
                      <a:r>
                        <a:t>9845</a:t>
                      </a:r>
                    </a:p>
                  </a:txBody>
                  <a:tcPr>
                    <a:solidFill>
                      <a:srgbClr val="EC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2D46"/>
                          </a:solidFill>
                          <a:latin typeface="Segoe UI"/>
                        </a:defRPr>
                      </a:pPr>
                      <a:r>
                        <a:t>2026-04-08 19:42:32</a:t>
                      </a:r>
                    </a:p>
                  </a:txBody>
                  <a:tcPr>
                    <a:solidFill>
                      <a:srgbClr val="EC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2D46"/>
                          </a:solidFill>
                          <a:latin typeface="Segoe UI"/>
                        </a:defRPr>
                      </a:pPr>
                      <a:r>
                        <a:t>Security_Staff_02</a:t>
                      </a:r>
                    </a:p>
                  </a:txBody>
                  <a:tcPr>
                    <a:solidFill>
                      <a:srgbClr val="EC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2D46"/>
                          </a:solidFill>
                          <a:latin typeface="Segoe UI"/>
                        </a:defRPr>
                      </a:pPr>
                      <a:r>
                        <a:t>0.89</a:t>
                      </a:r>
                    </a:p>
                  </a:txBody>
                  <a:tcPr>
                    <a:solidFill>
                      <a:srgbClr val="EC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2D46"/>
                          </a:solidFill>
                          <a:latin typeface="Segoe UI"/>
                        </a:defRPr>
                      </a:pPr>
                      <a:r>
                        <a:t>(88,176,190,64)</a:t>
                      </a:r>
                    </a:p>
                  </a:txBody>
                  <a:tcPr>
                    <a:solidFill>
                      <a:srgbClr val="EC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42D46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CF6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5166360"/>
            <a:ext cx="1042416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5233C"/>
                </a:solidFill>
                <a:latin typeface="Segoe UI"/>
              </a:defRPr>
            </a:pPr>
            <a:r>
              <a:t>Each detection row links identity with exact frame and time for investigation.</a:t>
            </a:r>
          </a:p>
          <a:p>
            <a:pPr>
              <a:defRPr sz="1400">
                <a:solidFill>
                  <a:srgbClr val="05233C"/>
                </a:solidFill>
                <a:latin typeface="Segoe UI"/>
              </a:defRPr>
            </a:pPr>
            <a:r>
              <a:t>is_unknown = 1 rows are prioritized for alerting and manual review.</a:t>
            </a:r>
          </a:p>
          <a:p>
            <a:pPr>
              <a:defRPr sz="1400">
                <a:solidFill>
                  <a:srgbClr val="05233C"/>
                </a:solidFill>
                <a:latin typeface="Segoe UI"/>
              </a:defRPr>
            </a:pPr>
            <a:r>
              <a:t>Timeline queries can answer: when, where, and how often a person appeared.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